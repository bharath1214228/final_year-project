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1"/>
  </p:notesMasterIdLst>
  <p:sldIdLst>
    <p:sldId id="256" r:id="rId2"/>
    <p:sldId id="313" r:id="rId3"/>
    <p:sldId id="258" r:id="rId4"/>
    <p:sldId id="259" r:id="rId5"/>
    <p:sldId id="263" r:id="rId6"/>
    <p:sldId id="317" r:id="rId7"/>
    <p:sldId id="316" r:id="rId8"/>
    <p:sldId id="274" r:id="rId9"/>
    <p:sldId id="283" r:id="rId10"/>
    <p:sldId id="309" r:id="rId11"/>
    <p:sldId id="310" r:id="rId12"/>
    <p:sldId id="311" r:id="rId13"/>
    <p:sldId id="305" r:id="rId14"/>
    <p:sldId id="312" r:id="rId15"/>
    <p:sldId id="318" r:id="rId16"/>
    <p:sldId id="291" r:id="rId17"/>
    <p:sldId id="284" r:id="rId18"/>
    <p:sldId id="315" r:id="rId19"/>
    <p:sldId id="31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26" autoAdjust="0"/>
    <p:restoredTop sz="94660"/>
  </p:normalViewPr>
  <p:slideViewPr>
    <p:cSldViewPr>
      <p:cViewPr varScale="1">
        <p:scale>
          <a:sx n="82" d="100"/>
          <a:sy n="82" d="100"/>
        </p:scale>
        <p:origin x="-1464" y="-9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028D32-4AC3-4A22-A84C-18CC3DF6CF92}" type="datetimeFigureOut">
              <a:rPr lang="en-US" smtClean="0"/>
              <a:t>1/29/2025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64C87F-2840-4706-9C01-84B7C7DC6A5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DA0F785B-D8AD-4CC8-AE3C-E849DB35679A}" type="datetime1">
              <a:rPr lang="en-US" smtClean="0"/>
              <a:t>1/29/2025</a:t>
            </a:fld>
            <a:endParaRPr lang="en-US"/>
          </a:p>
        </p:txBody>
      </p:sp>
      <p:sp>
        <p:nvSpPr>
          <p:cNvPr id="20" name="Footer Placeholder 19"/>
          <p:cNvSpPr>
            <a:spLocks noGrp="1"/>
          </p:cNvSpPr>
          <p:nvPr>
            <p:ph type="ftr" sz="quarter" idx="11"/>
          </p:nvPr>
        </p:nvSpPr>
        <p:spPr/>
        <p:txBody>
          <a:bodyPr/>
          <a:lstStyle>
            <a:extLst/>
          </a:lstStyle>
          <a:p>
            <a:r>
              <a:rPr lang="en-US" smtClean="0"/>
              <a:t>Dept of ECE, BITM, BALLARI</a:t>
            </a:r>
            <a:endParaRPr lang="en-US"/>
          </a:p>
        </p:txBody>
      </p:sp>
      <p:sp>
        <p:nvSpPr>
          <p:cNvPr id="10" name="Slide Number Placeholder 9"/>
          <p:cNvSpPr>
            <a:spLocks noGrp="1"/>
          </p:cNvSpPr>
          <p:nvPr>
            <p:ph type="sldNum" sz="quarter" idx="12"/>
          </p:nvPr>
        </p:nvSpPr>
        <p:spPr/>
        <p:txBody>
          <a:bodyPr/>
          <a:lstStyle>
            <a:extLst/>
          </a:lstStyle>
          <a:p>
            <a:fld id="{D9E1E325-8F08-4643-8F2D-0F25220B99BD}"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A02AF96-1C47-4893-B41E-431B262FB2C9}" type="datetime1">
              <a:rPr lang="en-US" smtClean="0"/>
              <a:t>1/29/2025</a:t>
            </a:fld>
            <a:endParaRPr lang="en-US"/>
          </a:p>
        </p:txBody>
      </p:sp>
      <p:sp>
        <p:nvSpPr>
          <p:cNvPr id="5" name="Footer Placeholder 4"/>
          <p:cNvSpPr>
            <a:spLocks noGrp="1"/>
          </p:cNvSpPr>
          <p:nvPr>
            <p:ph type="ftr" sz="quarter" idx="11"/>
          </p:nvPr>
        </p:nvSpPr>
        <p:spPr/>
        <p:txBody>
          <a:bodyPr/>
          <a:lstStyle>
            <a:extLst/>
          </a:lstStyle>
          <a:p>
            <a:r>
              <a:rPr lang="en-US" smtClean="0"/>
              <a:t>Dept of ECE, BITM, BALLARI</a:t>
            </a:r>
            <a:endParaRPr lang="en-US"/>
          </a:p>
        </p:txBody>
      </p:sp>
      <p:sp>
        <p:nvSpPr>
          <p:cNvPr id="6" name="Slide Number Placeholder 5"/>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14B4F94-09B6-4DE9-9929-EAD86BC8C052}" type="datetime1">
              <a:rPr lang="en-US" smtClean="0"/>
              <a:t>1/29/2025</a:t>
            </a:fld>
            <a:endParaRPr lang="en-US"/>
          </a:p>
        </p:txBody>
      </p:sp>
      <p:sp>
        <p:nvSpPr>
          <p:cNvPr id="5" name="Footer Placeholder 4"/>
          <p:cNvSpPr>
            <a:spLocks noGrp="1"/>
          </p:cNvSpPr>
          <p:nvPr>
            <p:ph type="ftr" sz="quarter" idx="11"/>
          </p:nvPr>
        </p:nvSpPr>
        <p:spPr/>
        <p:txBody>
          <a:bodyPr/>
          <a:lstStyle>
            <a:extLst/>
          </a:lstStyle>
          <a:p>
            <a:r>
              <a:rPr lang="en-US" smtClean="0"/>
              <a:t>Dept of ECE, BITM, BALLARI</a:t>
            </a:r>
            <a:endParaRPr lang="en-US"/>
          </a:p>
        </p:txBody>
      </p:sp>
      <p:sp>
        <p:nvSpPr>
          <p:cNvPr id="6" name="Slide Number Placeholder 5"/>
          <p:cNvSpPr>
            <a:spLocks noGrp="1"/>
          </p:cNvSpPr>
          <p:nvPr>
            <p:ph type="sldNum" sz="quarter" idx="12"/>
          </p:nvPr>
        </p:nvSpPr>
        <p:spPr/>
        <p:txBody>
          <a:bodyPr/>
          <a:lstStyle>
            <a:extLst/>
          </a:lstStyle>
          <a:p>
            <a:fld id="{D9E1E325-8F08-4643-8F2D-0F25220B99BD}"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5D4DE41-F6D7-4FF0-9D41-647732D23FBC}" type="datetime1">
              <a:rPr lang="en-US" smtClean="0"/>
              <a:t>1/29/2025</a:t>
            </a:fld>
            <a:endParaRPr lang="en-US"/>
          </a:p>
        </p:txBody>
      </p:sp>
      <p:sp>
        <p:nvSpPr>
          <p:cNvPr id="6" name="Footer Placeholder 5"/>
          <p:cNvSpPr>
            <a:spLocks noGrp="1"/>
          </p:cNvSpPr>
          <p:nvPr>
            <p:ph type="ftr" sz="quarter" idx="11"/>
          </p:nvPr>
        </p:nvSpPr>
        <p:spPr/>
        <p:txBody>
          <a:bodyPr/>
          <a:lstStyle>
            <a:extLst/>
          </a:lstStyle>
          <a:p>
            <a:r>
              <a:rPr lang="en-US" smtClean="0"/>
              <a:t>Dept of ECE, BITM, BALLARI</a:t>
            </a:r>
            <a:endParaRPr lang="en-US"/>
          </a:p>
        </p:txBody>
      </p:sp>
      <p:sp>
        <p:nvSpPr>
          <p:cNvPr id="7" name="Slide Number Placeholder 6"/>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131873F-BEE7-4650-9BB1-9713AE230FEE}" type="datetime1">
              <a:rPr lang="en-US" smtClean="0"/>
              <a:t>1/29/2025</a:t>
            </a:fld>
            <a:endParaRPr lang="en-US"/>
          </a:p>
        </p:txBody>
      </p:sp>
      <p:sp>
        <p:nvSpPr>
          <p:cNvPr id="8" name="Footer Placeholder 7"/>
          <p:cNvSpPr>
            <a:spLocks noGrp="1"/>
          </p:cNvSpPr>
          <p:nvPr>
            <p:ph type="ftr" sz="quarter" idx="11"/>
          </p:nvPr>
        </p:nvSpPr>
        <p:spPr/>
        <p:txBody>
          <a:bodyPr/>
          <a:lstStyle>
            <a:extLst/>
          </a:lstStyle>
          <a:p>
            <a:r>
              <a:rPr lang="en-US" smtClean="0"/>
              <a:t>Dept of ECE, BITM, BALLARI</a:t>
            </a:r>
            <a:endParaRPr lang="en-US"/>
          </a:p>
        </p:txBody>
      </p:sp>
      <p:sp>
        <p:nvSpPr>
          <p:cNvPr id="9" name="Slide Number Placeholder 8"/>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74FAB34E-8017-4E29-BB1B-C48784CE3897}" type="datetime1">
              <a:rPr lang="en-US" smtClean="0"/>
              <a:t>1/29/2025</a:t>
            </a:fld>
            <a:endParaRPr lang="en-US"/>
          </a:p>
        </p:txBody>
      </p:sp>
      <p:sp>
        <p:nvSpPr>
          <p:cNvPr id="4" name="Footer Placeholder 3"/>
          <p:cNvSpPr>
            <a:spLocks noGrp="1"/>
          </p:cNvSpPr>
          <p:nvPr>
            <p:ph type="ftr" sz="quarter" idx="11"/>
          </p:nvPr>
        </p:nvSpPr>
        <p:spPr/>
        <p:txBody>
          <a:bodyPr/>
          <a:lstStyle>
            <a:extLst/>
          </a:lstStyle>
          <a:p>
            <a:r>
              <a:rPr lang="en-US" smtClean="0"/>
              <a:t>Dept of ECE, BITM, BALLARI</a:t>
            </a:r>
            <a:endParaRPr lang="en-US"/>
          </a:p>
        </p:txBody>
      </p:sp>
      <p:sp>
        <p:nvSpPr>
          <p:cNvPr id="5" name="Slide Number Placeholder 4"/>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CAAA7B1-4B51-4EC0-B92F-96180F37F631}" type="datetime1">
              <a:rPr lang="en-US" smtClean="0"/>
              <a:t>1/29/2025</a:t>
            </a:fld>
            <a:endParaRPr lang="en-US"/>
          </a:p>
        </p:txBody>
      </p:sp>
      <p:sp>
        <p:nvSpPr>
          <p:cNvPr id="3" name="Footer Placeholder 2"/>
          <p:cNvSpPr>
            <a:spLocks noGrp="1"/>
          </p:cNvSpPr>
          <p:nvPr>
            <p:ph type="ftr" sz="quarter" idx="11"/>
          </p:nvPr>
        </p:nvSpPr>
        <p:spPr/>
        <p:txBody>
          <a:bodyPr/>
          <a:lstStyle>
            <a:extLst/>
          </a:lstStyle>
          <a:p>
            <a:r>
              <a:rPr lang="en-US" smtClean="0"/>
              <a:t>Dept of ECE, BITM, BALLARI</a:t>
            </a:r>
            <a:endParaRPr lang="en-US"/>
          </a:p>
        </p:txBody>
      </p:sp>
      <p:sp>
        <p:nvSpPr>
          <p:cNvPr id="4" name="Slide Number Placeholder 3"/>
          <p:cNvSpPr>
            <a:spLocks noGrp="1"/>
          </p:cNvSpPr>
          <p:nvPr>
            <p:ph type="sldNum" sz="quarter" idx="12"/>
          </p:nvPr>
        </p:nvSpPr>
        <p:spPr/>
        <p:txBody>
          <a:bodyPr/>
          <a:lstStyle>
            <a:extLst/>
          </a:lstStyle>
          <a:p>
            <a:fld id="{D9E1E325-8F08-4643-8F2D-0F25220B99BD}"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036DA59-B784-49DF-8BF2-04B4A5D301B7}" type="datetime1">
              <a:rPr lang="en-US" smtClean="0"/>
              <a:t>1/29/2025</a:t>
            </a:fld>
            <a:endParaRPr lang="en-US"/>
          </a:p>
        </p:txBody>
      </p:sp>
      <p:sp>
        <p:nvSpPr>
          <p:cNvPr id="6" name="Footer Placeholder 5"/>
          <p:cNvSpPr>
            <a:spLocks noGrp="1"/>
          </p:cNvSpPr>
          <p:nvPr>
            <p:ph type="ftr" sz="quarter" idx="11"/>
          </p:nvPr>
        </p:nvSpPr>
        <p:spPr/>
        <p:txBody>
          <a:bodyPr/>
          <a:lstStyle>
            <a:extLst/>
          </a:lstStyle>
          <a:p>
            <a:r>
              <a:rPr lang="en-US" smtClean="0"/>
              <a:t>Dept of ECE, BITM, BALLARI</a:t>
            </a:r>
            <a:endParaRPr lang="en-US"/>
          </a:p>
        </p:txBody>
      </p:sp>
      <p:sp>
        <p:nvSpPr>
          <p:cNvPr id="7" name="Slide Number Placeholder 6"/>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32786154-8867-439E-86B5-D3926E3F4E1A}" type="datetime1">
              <a:rPr lang="en-US" smtClean="0"/>
              <a:t>1/29/2025</a:t>
            </a:fld>
            <a:endParaRPr lang="en-US"/>
          </a:p>
        </p:txBody>
      </p:sp>
      <p:sp>
        <p:nvSpPr>
          <p:cNvPr id="6" name="Footer Placeholder 5"/>
          <p:cNvSpPr>
            <a:spLocks noGrp="1"/>
          </p:cNvSpPr>
          <p:nvPr>
            <p:ph type="ftr" sz="quarter" idx="11"/>
          </p:nvPr>
        </p:nvSpPr>
        <p:spPr/>
        <p:txBody>
          <a:bodyPr/>
          <a:lstStyle>
            <a:extLst/>
          </a:lstStyle>
          <a:p>
            <a:r>
              <a:rPr lang="en-US" smtClean="0"/>
              <a:t>Dept of ECE, BITM, BALLARI</a:t>
            </a:r>
            <a:endParaRPr lang="en-US"/>
          </a:p>
        </p:txBody>
      </p:sp>
      <p:sp>
        <p:nvSpPr>
          <p:cNvPr id="7" name="Slide Number Placeholder 6"/>
          <p:cNvSpPr>
            <a:spLocks noGrp="1"/>
          </p:cNvSpPr>
          <p:nvPr>
            <p:ph type="sldNum" sz="quarter" idx="12"/>
          </p:nvPr>
        </p:nvSpPr>
        <p:spPr/>
        <p:txBody>
          <a:bodyPr/>
          <a:lstStyle>
            <a:extLst/>
          </a:lstStyle>
          <a:p>
            <a:fld id="{D9E1E325-8F08-4643-8F2D-0F25220B99BD}"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107AA5F-FAC7-4474-87F6-EA4C435E821C}" type="datetime1">
              <a:rPr lang="en-US" smtClean="0"/>
              <a:t>1/29/2025</a:t>
            </a:fld>
            <a:endParaRPr lang="en-US"/>
          </a:p>
        </p:txBody>
      </p:sp>
      <p:sp>
        <p:nvSpPr>
          <p:cNvPr id="5" name="Footer Placeholder 4"/>
          <p:cNvSpPr>
            <a:spLocks noGrp="1"/>
          </p:cNvSpPr>
          <p:nvPr>
            <p:ph type="ftr" sz="quarter" idx="11"/>
          </p:nvPr>
        </p:nvSpPr>
        <p:spPr/>
        <p:txBody>
          <a:bodyPr/>
          <a:lstStyle>
            <a:extLst/>
          </a:lstStyle>
          <a:p>
            <a:r>
              <a:rPr lang="en-US" smtClean="0"/>
              <a:t>Dept of ECE, BITM, BALLARI</a:t>
            </a:r>
            <a:endParaRPr lang="en-US"/>
          </a:p>
        </p:txBody>
      </p:sp>
      <p:sp>
        <p:nvSpPr>
          <p:cNvPr id="6" name="Slide Number Placeholder 5"/>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238C83B-DB5D-48ED-8AB8-BDE948A57043}" type="datetime1">
              <a:rPr lang="en-US" smtClean="0"/>
              <a:t>1/29/2025</a:t>
            </a:fld>
            <a:endParaRPr lang="en-US"/>
          </a:p>
        </p:txBody>
      </p:sp>
      <p:sp>
        <p:nvSpPr>
          <p:cNvPr id="5" name="Footer Placeholder 4"/>
          <p:cNvSpPr>
            <a:spLocks noGrp="1"/>
          </p:cNvSpPr>
          <p:nvPr>
            <p:ph type="ftr" sz="quarter" idx="11"/>
          </p:nvPr>
        </p:nvSpPr>
        <p:spPr/>
        <p:txBody>
          <a:bodyPr/>
          <a:lstStyle>
            <a:extLst/>
          </a:lstStyle>
          <a:p>
            <a:r>
              <a:rPr lang="en-US" smtClean="0"/>
              <a:t>Dept of ECE, BITM, BALLARI</a:t>
            </a:r>
            <a:endParaRPr lang="en-US"/>
          </a:p>
        </p:txBody>
      </p:sp>
      <p:sp>
        <p:nvSpPr>
          <p:cNvPr id="6" name="Slide Number Placeholder 5"/>
          <p:cNvSpPr>
            <a:spLocks noGrp="1"/>
          </p:cNvSpPr>
          <p:nvPr>
            <p:ph type="sldNum" sz="quarter" idx="12"/>
          </p:nvPr>
        </p:nvSpPr>
        <p:spPr/>
        <p:txBody>
          <a:bodyPr/>
          <a:lstStyle>
            <a:extLst/>
          </a:lstStyle>
          <a:p>
            <a:fld id="{D9E1E325-8F08-4643-8F2D-0F25220B99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70CF6671-E6F3-4FB4-807E-72964F7CF76E}" type="datetime1">
              <a:rPr lang="en-US" smtClean="0"/>
              <a:t>1/29/2025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smtClean="0"/>
              <a:t>Dept of ECE, BITM, BALLARI</a:t>
            </a:r>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D9E1E325-8F08-4643-8F2D-0F25220B99BD}"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75656" y="1428736"/>
            <a:ext cx="6858000" cy="533400"/>
          </a:xfrm>
        </p:spPr>
        <p:txBody>
          <a:bodyPr>
            <a:noAutofit/>
          </a:bodyPr>
          <a:lstStyle/>
          <a:p>
            <a:pPr algn="ctr"/>
            <a:r>
              <a:rPr lang="en-US" sz="3600" b="1" dirty="0"/>
              <a:t>IoT based LPG leakage and level detection and </a:t>
            </a:r>
            <a:r>
              <a:rPr lang="en-US" sz="3600" b="1" dirty="0" smtClean="0"/>
              <a:t>using </a:t>
            </a:r>
            <a:r>
              <a:rPr lang="en-US" sz="3600" b="1" dirty="0"/>
              <a:t>Thing Speak platform</a:t>
            </a:r>
            <a:endParaRPr lang="en-US" sz="3600" dirty="0"/>
          </a:p>
        </p:txBody>
      </p:sp>
      <p:sp>
        <p:nvSpPr>
          <p:cNvPr id="4" name="TextBox 3"/>
          <p:cNvSpPr txBox="1"/>
          <p:nvPr/>
        </p:nvSpPr>
        <p:spPr>
          <a:xfrm>
            <a:off x="4714876" y="4857760"/>
            <a:ext cx="4214842" cy="1477328"/>
          </a:xfrm>
          <a:prstGeom prst="rect">
            <a:avLst/>
          </a:prstGeom>
          <a:noFill/>
        </p:spPr>
        <p:txBody>
          <a:bodyPr wrap="square" rtlCol="0">
            <a:spAutoFit/>
          </a:bodyPr>
          <a:lstStyle/>
          <a:p>
            <a:pPr algn="ctr"/>
            <a:r>
              <a:rPr lang="en-US" dirty="0" err="1" smtClean="0"/>
              <a:t>TeamMates</a:t>
            </a:r>
            <a:endParaRPr lang="en-US" dirty="0" smtClean="0"/>
          </a:p>
          <a:p>
            <a:r>
              <a:rPr lang="en-US" dirty="0" smtClean="0"/>
              <a:t>M Eranna			3BR21EC083</a:t>
            </a:r>
          </a:p>
          <a:p>
            <a:r>
              <a:rPr lang="en-US" dirty="0" err="1" smtClean="0"/>
              <a:t>Matam</a:t>
            </a:r>
            <a:r>
              <a:rPr lang="en-US" dirty="0" smtClean="0"/>
              <a:t> </a:t>
            </a:r>
            <a:r>
              <a:rPr lang="en-US" dirty="0" err="1" smtClean="0"/>
              <a:t>Muddu</a:t>
            </a:r>
            <a:r>
              <a:rPr lang="en-US" dirty="0" smtClean="0"/>
              <a:t> </a:t>
            </a:r>
            <a:r>
              <a:rPr lang="en-US" dirty="0" err="1" smtClean="0"/>
              <a:t>Veeraiah</a:t>
            </a:r>
            <a:r>
              <a:rPr lang="en-US" dirty="0" smtClean="0"/>
              <a:t>	3BR21EC102</a:t>
            </a:r>
          </a:p>
          <a:p>
            <a:r>
              <a:rPr lang="en-US" dirty="0" err="1" smtClean="0"/>
              <a:t>Balija</a:t>
            </a:r>
            <a:r>
              <a:rPr lang="en-US" dirty="0" smtClean="0"/>
              <a:t> </a:t>
            </a:r>
            <a:r>
              <a:rPr lang="en-US" dirty="0" err="1" smtClean="0"/>
              <a:t>Ajith</a:t>
            </a:r>
            <a:r>
              <a:rPr lang="en-US" dirty="0" smtClean="0"/>
              <a:t> Kumar		3BR21EC025</a:t>
            </a:r>
          </a:p>
          <a:p>
            <a:r>
              <a:rPr lang="en-US" dirty="0" smtClean="0"/>
              <a:t>Madamanchi Bharath	3BR21EC092</a:t>
            </a:r>
            <a:endParaRPr lang="en-US" dirty="0"/>
          </a:p>
        </p:txBody>
      </p:sp>
      <p:sp>
        <p:nvSpPr>
          <p:cNvPr id="5" name="TextBox 4"/>
          <p:cNvSpPr txBox="1"/>
          <p:nvPr/>
        </p:nvSpPr>
        <p:spPr>
          <a:xfrm>
            <a:off x="1043385" y="4786322"/>
            <a:ext cx="1671227" cy="646331"/>
          </a:xfrm>
          <a:prstGeom prst="rect">
            <a:avLst/>
          </a:prstGeom>
          <a:noFill/>
        </p:spPr>
        <p:txBody>
          <a:bodyPr wrap="none" rtlCol="0">
            <a:spAutoFit/>
          </a:bodyPr>
          <a:lstStyle/>
          <a:p>
            <a:pPr algn="ctr"/>
            <a:r>
              <a:rPr lang="en-US" dirty="0" smtClean="0"/>
              <a:t>Guide</a:t>
            </a:r>
          </a:p>
          <a:p>
            <a:pPr algn="ctr"/>
            <a:r>
              <a:rPr lang="en-US" dirty="0" smtClean="0"/>
              <a:t>Mrs.Vijayarani T</a:t>
            </a:r>
            <a:endParaRPr lang="en-US" dirty="0"/>
          </a:p>
        </p:txBody>
      </p:sp>
      <p:sp>
        <p:nvSpPr>
          <p:cNvPr id="6" name="Footer Placeholder 5"/>
          <p:cNvSpPr>
            <a:spLocks noGrp="1"/>
          </p:cNvSpPr>
          <p:nvPr>
            <p:ph type="ftr" sz="quarter" idx="11"/>
          </p:nvPr>
        </p:nvSpPr>
        <p:spPr>
          <a:xfrm>
            <a:off x="1000100" y="63817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Table Of Contents</a:t>
            </a:r>
            <a:endParaRPr lang="en-US" dirty="0"/>
          </a:p>
        </p:txBody>
      </p:sp>
      <p:sp>
        <p:nvSpPr>
          <p:cNvPr id="3" name="Content Placeholder 2"/>
          <p:cNvSpPr>
            <a:spLocks noGrp="1"/>
          </p:cNvSpPr>
          <p:nvPr>
            <p:ph idx="1"/>
          </p:nvPr>
        </p:nvSpPr>
        <p:spPr/>
        <p:txBody>
          <a:bodyPr>
            <a:normAutofit/>
          </a:bodyPr>
          <a:lstStyle/>
          <a:p>
            <a:r>
              <a:rPr lang="en-US" dirty="0" smtClean="0"/>
              <a:t>Introduction</a:t>
            </a:r>
          </a:p>
          <a:p>
            <a:r>
              <a:rPr lang="en-US" dirty="0" smtClean="0"/>
              <a:t>Objective</a:t>
            </a:r>
          </a:p>
          <a:p>
            <a:r>
              <a:rPr lang="en-US" dirty="0" smtClean="0"/>
              <a:t>Block </a:t>
            </a:r>
            <a:r>
              <a:rPr lang="en-US" dirty="0" smtClean="0"/>
              <a:t>Diagram</a:t>
            </a:r>
          </a:p>
          <a:p>
            <a:r>
              <a:rPr lang="en-US" dirty="0" smtClean="0"/>
              <a:t>Working Module</a:t>
            </a:r>
            <a:endParaRPr lang="en-US" dirty="0" smtClean="0"/>
          </a:p>
          <a:p>
            <a:r>
              <a:rPr lang="en-US" dirty="0" smtClean="0"/>
              <a:t>Requirements (Hardware &amp; Software</a:t>
            </a:r>
            <a:r>
              <a:rPr lang="en-US" dirty="0" smtClean="0"/>
              <a:t>)</a:t>
            </a:r>
          </a:p>
          <a:p>
            <a:r>
              <a:rPr lang="en-US" dirty="0" smtClean="0"/>
              <a:t>Output Screens</a:t>
            </a:r>
            <a:endParaRPr lang="en-US" dirty="0" smtClean="0"/>
          </a:p>
          <a:p>
            <a:r>
              <a:rPr lang="en-US" dirty="0" smtClean="0"/>
              <a:t>Future Scope</a:t>
            </a:r>
          </a:p>
          <a:p>
            <a:r>
              <a:rPr lang="en-US" dirty="0" smtClean="0"/>
              <a:t>Conclusion</a:t>
            </a:r>
            <a:endParaRPr lang="en-US" dirty="0"/>
          </a:p>
        </p:txBody>
      </p:sp>
      <p:sp>
        <p:nvSpPr>
          <p:cNvPr id="4" name="Footer Placeholder 3"/>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0166" y="0"/>
            <a:ext cx="7498080" cy="1143000"/>
          </a:xfrm>
        </p:spPr>
        <p:txBody>
          <a:bodyPr/>
          <a:lstStyle/>
          <a:p>
            <a:pPr algn="ctr"/>
            <a:r>
              <a:rPr lang="en-US" dirty="0"/>
              <a:t>INTRODUCTION</a:t>
            </a:r>
          </a:p>
        </p:txBody>
      </p:sp>
      <p:sp>
        <p:nvSpPr>
          <p:cNvPr id="3" name="Content Placeholder 2"/>
          <p:cNvSpPr>
            <a:spLocks noGrp="1"/>
          </p:cNvSpPr>
          <p:nvPr>
            <p:ph idx="1"/>
          </p:nvPr>
        </p:nvSpPr>
        <p:spPr>
          <a:xfrm>
            <a:off x="1435608" y="1142984"/>
            <a:ext cx="7498080" cy="4800600"/>
          </a:xfrm>
        </p:spPr>
        <p:txBody>
          <a:bodyPr>
            <a:noAutofit/>
          </a:bodyPr>
          <a:lstStyle/>
          <a:p>
            <a:r>
              <a:rPr lang="en-US" sz="1500" b="1" dirty="0" smtClean="0"/>
              <a:t>Widespread Use</a:t>
            </a:r>
            <a:r>
              <a:rPr lang="en-US" sz="1500" dirty="0" smtClean="0"/>
              <a:t>: LPG is widely used in households, industries, and commercial establishments due to its high calorific value and convenience.</a:t>
            </a:r>
          </a:p>
          <a:p>
            <a:endParaRPr lang="en-US" sz="1500" dirty="0" smtClean="0"/>
          </a:p>
          <a:p>
            <a:r>
              <a:rPr lang="en-US" sz="1500" b="1" dirty="0" smtClean="0"/>
              <a:t>Manual Monitoring Challenges</a:t>
            </a:r>
            <a:r>
              <a:rPr lang="en-US" sz="1500" dirty="0" smtClean="0"/>
              <a:t>: Traditional methods of manually monitoring LPG levels are often inconvenient and prone to oversight, leading to potential supply disruptions.</a:t>
            </a:r>
          </a:p>
          <a:p>
            <a:endParaRPr lang="en-US" sz="1500" dirty="0" smtClean="0"/>
          </a:p>
          <a:p>
            <a:r>
              <a:rPr lang="en-US" sz="1500" b="1" dirty="0" smtClean="0"/>
              <a:t>Uninterrupted Supply</a:t>
            </a:r>
            <a:r>
              <a:rPr lang="en-US" sz="1500" dirty="0" smtClean="0"/>
              <a:t>: Ensuring an uninterrupted LPG supply is a significant challenge, especially when relying on manual monitoring that may fail to detect low gas levels in time.</a:t>
            </a:r>
          </a:p>
          <a:p>
            <a:endParaRPr lang="en-US" sz="1500" dirty="0" smtClean="0"/>
          </a:p>
          <a:p>
            <a:r>
              <a:rPr lang="en-US" sz="1500" b="1" dirty="0" smtClean="0"/>
              <a:t>Safety Hazards</a:t>
            </a:r>
            <a:r>
              <a:rPr lang="en-US" sz="1500" dirty="0" smtClean="0"/>
              <a:t>: Accidental LPG leaks present serious safety risks, potentially leading to catastrophic incidents if not detected promptly.</a:t>
            </a:r>
          </a:p>
          <a:p>
            <a:endParaRPr lang="en-US" sz="1500" dirty="0" smtClean="0"/>
          </a:p>
          <a:p>
            <a:r>
              <a:rPr lang="en-US" sz="1500" b="1" dirty="0" smtClean="0"/>
              <a:t>Emergency Situations</a:t>
            </a:r>
            <a:r>
              <a:rPr lang="en-US" sz="1500" dirty="0" smtClean="0"/>
              <a:t>: Traditional methods often fail to address emergency situations effectively, such as gas leaks or sudden depletion of gas.</a:t>
            </a:r>
          </a:p>
          <a:p>
            <a:endParaRPr lang="en-US" sz="1500" dirty="0" smtClean="0"/>
          </a:p>
          <a:p>
            <a:r>
              <a:rPr lang="en-US" sz="1500" b="1" dirty="0" smtClean="0"/>
              <a:t>Need for Automation</a:t>
            </a:r>
            <a:r>
              <a:rPr lang="en-US" sz="1500" dirty="0" smtClean="0"/>
              <a:t>: There is a growing need for reliable, automated solutions to monitor LPG levels and detect leaks, ensuring both safety and continuous supply.</a:t>
            </a:r>
            <a:endParaRPr lang="en-US" sz="1500" dirty="0"/>
          </a:p>
        </p:txBody>
      </p:sp>
      <p:sp>
        <p:nvSpPr>
          <p:cNvPr id="4" name="Footer Placeholder 3"/>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OBJECTIVE</a:t>
            </a:r>
          </a:p>
        </p:txBody>
      </p:sp>
      <p:sp>
        <p:nvSpPr>
          <p:cNvPr id="3" name="Content Placeholder 2"/>
          <p:cNvSpPr>
            <a:spLocks noGrp="1"/>
          </p:cNvSpPr>
          <p:nvPr>
            <p:ph idx="1"/>
          </p:nvPr>
        </p:nvSpPr>
        <p:spPr/>
        <p:txBody>
          <a:bodyPr>
            <a:normAutofit fontScale="85000" lnSpcReduction="10000"/>
          </a:bodyPr>
          <a:lstStyle/>
          <a:p>
            <a:r>
              <a:rPr lang="en-US" sz="1800" dirty="0" smtClean="0"/>
              <a:t>·</a:t>
            </a:r>
            <a:r>
              <a:rPr lang="en-US" sz="1800" b="1" dirty="0" smtClean="0"/>
              <a:t> Aim</a:t>
            </a:r>
            <a:r>
              <a:rPr lang="en-US" sz="1800" dirty="0" smtClean="0"/>
              <a:t>: Develop an IoT-based system for efficient and safe management of LPG cylinders.</a:t>
            </a:r>
          </a:p>
          <a:p>
            <a:pPr>
              <a:buNone/>
            </a:pPr>
            <a:r>
              <a:rPr lang="en-US" sz="1800" dirty="0" smtClean="0"/>
              <a:t> </a:t>
            </a:r>
          </a:p>
          <a:p>
            <a:r>
              <a:rPr lang="en-US" sz="1800" dirty="0" smtClean="0"/>
              <a:t>·</a:t>
            </a:r>
            <a:r>
              <a:rPr lang="en-US" sz="1800" b="1" dirty="0" smtClean="0"/>
              <a:t> Monitoring LPG Levels</a:t>
            </a:r>
            <a:r>
              <a:rPr lang="en-US" sz="1800" dirty="0" smtClean="0"/>
              <a:t>: Uses a pressure sensor to monitor the gas levels in the cylinder.</a:t>
            </a:r>
          </a:p>
          <a:p>
            <a:pPr>
              <a:buNone/>
            </a:pPr>
            <a:r>
              <a:rPr lang="en-US" sz="1800" dirty="0" smtClean="0"/>
              <a:t> </a:t>
            </a:r>
          </a:p>
          <a:p>
            <a:r>
              <a:rPr lang="en-US" sz="1800" dirty="0" smtClean="0"/>
              <a:t>· </a:t>
            </a:r>
            <a:r>
              <a:rPr lang="en-US" sz="1800" b="1" dirty="0" smtClean="0"/>
              <a:t>Leakage Detection</a:t>
            </a:r>
            <a:r>
              <a:rPr lang="en-US" sz="1800" dirty="0" smtClean="0"/>
              <a:t>: Detects LPG gas leakage using a gas sensor to enhance safety.</a:t>
            </a:r>
          </a:p>
          <a:p>
            <a:pPr>
              <a:buNone/>
            </a:pPr>
            <a:r>
              <a:rPr lang="en-US" sz="1800" dirty="0" smtClean="0"/>
              <a:t> </a:t>
            </a:r>
          </a:p>
          <a:p>
            <a:r>
              <a:rPr lang="en-US" sz="1800" dirty="0" smtClean="0"/>
              <a:t>· </a:t>
            </a:r>
            <a:r>
              <a:rPr lang="en-US" sz="1800" b="1" dirty="0" smtClean="0"/>
              <a:t>Real-Time Alerts</a:t>
            </a:r>
            <a:r>
              <a:rPr lang="en-US" sz="1800" dirty="0" smtClean="0"/>
              <a:t>: Provides instant notifications and alerts to users in case of issues, such as leakage or low gas levels.</a:t>
            </a:r>
          </a:p>
          <a:p>
            <a:pPr>
              <a:buNone/>
            </a:pPr>
            <a:r>
              <a:rPr lang="en-US" sz="1800" dirty="0" smtClean="0"/>
              <a:t> </a:t>
            </a:r>
          </a:p>
          <a:p>
            <a:r>
              <a:rPr lang="en-US" sz="1800" dirty="0" smtClean="0"/>
              <a:t>· </a:t>
            </a:r>
            <a:r>
              <a:rPr lang="en-US" sz="1800" b="1" dirty="0" smtClean="0"/>
              <a:t>Buzzer Notification</a:t>
            </a:r>
            <a:r>
              <a:rPr lang="en-US" sz="1800" dirty="0" smtClean="0"/>
              <a:t>: Alerts users with a buzzer for immediate attention.</a:t>
            </a:r>
          </a:p>
          <a:p>
            <a:pPr>
              <a:buNone/>
            </a:pPr>
            <a:r>
              <a:rPr lang="en-US" sz="1800" dirty="0" smtClean="0"/>
              <a:t> </a:t>
            </a:r>
          </a:p>
          <a:p>
            <a:r>
              <a:rPr lang="en-US" sz="1800" dirty="0" smtClean="0"/>
              <a:t>· </a:t>
            </a:r>
            <a:r>
              <a:rPr lang="en-US" sz="1800" b="1" dirty="0" smtClean="0"/>
              <a:t>Automated Booking</a:t>
            </a:r>
            <a:r>
              <a:rPr lang="en-US" sz="1800" dirty="0" smtClean="0"/>
              <a:t>: Automates the LPG cylinder booking process via the ThingSpeak platform using the ESP8266 Wi-Fi module.</a:t>
            </a:r>
          </a:p>
          <a:p>
            <a:pPr>
              <a:buNone/>
            </a:pPr>
            <a:r>
              <a:rPr lang="en-US" sz="1800" dirty="0" smtClean="0"/>
              <a:t> </a:t>
            </a:r>
          </a:p>
          <a:p>
            <a:r>
              <a:rPr lang="en-US" sz="1800" dirty="0" smtClean="0"/>
              <a:t>· </a:t>
            </a:r>
            <a:r>
              <a:rPr lang="en-US" sz="1800" b="1" dirty="0" smtClean="0"/>
              <a:t>Safety &amp; Convenience</a:t>
            </a:r>
            <a:r>
              <a:rPr lang="en-US" sz="1800" dirty="0" smtClean="0"/>
              <a:t>: Ensures uninterrupted gas supply, reduces manual intervention, minimizes risks, and improves user experience.</a:t>
            </a:r>
            <a:endParaRPr lang="en-US" sz="1800" dirty="0"/>
          </a:p>
        </p:txBody>
      </p:sp>
      <p:sp>
        <p:nvSpPr>
          <p:cNvPr id="4" name="Footer Placeholder 3"/>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BLOCK DIAGRAM</a:t>
            </a:r>
          </a:p>
        </p:txBody>
      </p:sp>
      <p:pic>
        <p:nvPicPr>
          <p:cNvPr id="6" name="Content Placeholder 5">
            <a:extLst>
              <a:ext uri="{FF2B5EF4-FFF2-40B4-BE49-F238E27FC236}">
                <a16:creationId xmlns="" xmlns:a16="http://schemas.microsoft.com/office/drawing/2014/main" id="{C932B9A8-6C8B-3479-A39A-F88B98F87B10}"/>
              </a:ext>
            </a:extLst>
          </p:cNvPr>
          <p:cNvPicPr>
            <a:picLocks noGrp="1" noChangeAspect="1"/>
          </p:cNvPicPr>
          <p:nvPr>
            <p:ph idx="1"/>
          </p:nvPr>
        </p:nvPicPr>
        <p:blipFill>
          <a:blip r:embed="rId2"/>
          <a:stretch>
            <a:fillRect/>
          </a:stretch>
        </p:blipFill>
        <p:spPr>
          <a:xfrm>
            <a:off x="1985905" y="1447800"/>
            <a:ext cx="6397740" cy="4800600"/>
          </a:xfrm>
        </p:spPr>
      </p:pic>
      <p:sp>
        <p:nvSpPr>
          <p:cNvPr id="4" name="Footer Placeholder 3"/>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Working Module</a:t>
            </a:r>
            <a:endParaRPr lang="en-US" dirty="0"/>
          </a:p>
        </p:txBody>
      </p:sp>
      <p:pic>
        <p:nvPicPr>
          <p:cNvPr id="4" name="Content Placeholder 3" descr="main.jpg"/>
          <p:cNvPicPr>
            <a:picLocks noGrp="1" noChangeAspect="1"/>
          </p:cNvPicPr>
          <p:nvPr>
            <p:ph idx="1"/>
          </p:nvPr>
        </p:nvPicPr>
        <p:blipFill>
          <a:blip r:embed="rId2"/>
          <a:stretch>
            <a:fillRect/>
          </a:stretch>
        </p:blipFill>
        <p:spPr>
          <a:xfrm>
            <a:off x="2144544" y="1447800"/>
            <a:ext cx="6080461" cy="4800600"/>
          </a:xfrm>
        </p:spPr>
      </p:pic>
      <p:sp>
        <p:nvSpPr>
          <p:cNvPr id="5" name="Footer Placeholder 4"/>
          <p:cNvSpPr>
            <a:spLocks noGrp="1"/>
          </p:cNvSpPr>
          <p:nvPr>
            <p:ph type="ftr" sz="quarter" idx="11"/>
          </p:nvPr>
        </p:nvSpPr>
        <p:spPr>
          <a:xfrm>
            <a:off x="96202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Working </a:t>
            </a:r>
            <a:endParaRPr lang="en-US" dirty="0"/>
          </a:p>
        </p:txBody>
      </p:sp>
      <p:sp>
        <p:nvSpPr>
          <p:cNvPr id="3" name="Content Placeholder 2"/>
          <p:cNvSpPr>
            <a:spLocks noGrp="1"/>
          </p:cNvSpPr>
          <p:nvPr>
            <p:ph idx="1"/>
          </p:nvPr>
        </p:nvSpPr>
        <p:spPr/>
        <p:txBody>
          <a:bodyPr>
            <a:normAutofit fontScale="47500" lnSpcReduction="20000"/>
          </a:bodyPr>
          <a:lstStyle/>
          <a:p>
            <a:r>
              <a:rPr lang="en-US" b="1" dirty="0" smtClean="0"/>
              <a:t>Startup</a:t>
            </a:r>
            <a:r>
              <a:rPr lang="en-US" dirty="0" smtClean="0"/>
              <a:t>:</a:t>
            </a:r>
            <a:endParaRPr lang="en-US" sz="2400" dirty="0" smtClean="0"/>
          </a:p>
          <a:p>
            <a:pPr lvl="1"/>
            <a:r>
              <a:rPr lang="en-US" dirty="0" smtClean="0"/>
              <a:t>The Arduino initializes the pressure sensor and ESP8266 Wi-Fi module during startup.</a:t>
            </a:r>
            <a:endParaRPr lang="en-US" sz="2400" dirty="0" smtClean="0"/>
          </a:p>
          <a:p>
            <a:pPr lvl="1"/>
            <a:r>
              <a:rPr lang="en-US" dirty="0" smtClean="0"/>
              <a:t>The system connects to the configured Wi-Fi network and ThingSpeak platform.</a:t>
            </a:r>
            <a:endParaRPr lang="en-US" sz="2400" dirty="0" smtClean="0"/>
          </a:p>
          <a:p>
            <a:pPr lvl="0"/>
            <a:r>
              <a:rPr lang="en-US" b="1" dirty="0" smtClean="0"/>
              <a:t>Gas Level Monitoring</a:t>
            </a:r>
            <a:r>
              <a:rPr lang="en-US" dirty="0" smtClean="0"/>
              <a:t>:</a:t>
            </a:r>
            <a:endParaRPr lang="en-US" sz="2400" dirty="0" smtClean="0"/>
          </a:p>
          <a:p>
            <a:pPr lvl="1"/>
            <a:r>
              <a:rPr lang="en-US" dirty="0" smtClean="0"/>
              <a:t>The pressure sensor continuously measures the weight of the LPG cylinder.</a:t>
            </a:r>
            <a:endParaRPr lang="en-US" sz="2400" dirty="0" smtClean="0"/>
          </a:p>
          <a:p>
            <a:pPr lvl="1"/>
            <a:r>
              <a:rPr lang="en-US" dirty="0" smtClean="0"/>
              <a:t>The Arduino processes the data and calculates the remaining gas level based on the weight.</a:t>
            </a:r>
            <a:endParaRPr lang="en-US" sz="2400" dirty="0" smtClean="0"/>
          </a:p>
          <a:p>
            <a:pPr lvl="0"/>
            <a:r>
              <a:rPr lang="en-US" b="1" dirty="0" smtClean="0"/>
              <a:t>Threshold Detection</a:t>
            </a:r>
            <a:r>
              <a:rPr lang="en-US" dirty="0" smtClean="0"/>
              <a:t>:</a:t>
            </a:r>
            <a:endParaRPr lang="en-US" sz="2400" dirty="0" smtClean="0"/>
          </a:p>
          <a:p>
            <a:pPr lvl="1"/>
            <a:r>
              <a:rPr lang="en-US" dirty="0" smtClean="0"/>
              <a:t>The gas level is compared with a predefined threshold and leakage detection.</a:t>
            </a:r>
            <a:endParaRPr lang="en-US" sz="2400" dirty="0" smtClean="0"/>
          </a:p>
          <a:p>
            <a:pPr lvl="1"/>
            <a:r>
              <a:rPr lang="en-US" dirty="0" smtClean="0"/>
              <a:t>If the level falls below the threshold, the system triggers an action.</a:t>
            </a:r>
            <a:endParaRPr lang="en-US" sz="2400" dirty="0" smtClean="0"/>
          </a:p>
          <a:p>
            <a:pPr lvl="0"/>
            <a:r>
              <a:rPr lang="en-US" b="1" dirty="0" smtClean="0"/>
              <a:t>Data Transmission</a:t>
            </a:r>
            <a:r>
              <a:rPr lang="en-US" dirty="0" smtClean="0"/>
              <a:t>:</a:t>
            </a:r>
            <a:endParaRPr lang="en-US" sz="2400" dirty="0" smtClean="0"/>
          </a:p>
          <a:p>
            <a:pPr lvl="1"/>
            <a:r>
              <a:rPr lang="en-US" dirty="0" smtClean="0"/>
              <a:t>The ESP8266 Wi-Fi module sends the gas level data to the ThingSpeak cloud platform.</a:t>
            </a:r>
            <a:endParaRPr lang="en-US" sz="2400" dirty="0" smtClean="0"/>
          </a:p>
          <a:p>
            <a:pPr lvl="1"/>
            <a:r>
              <a:rPr lang="en-US" dirty="0" smtClean="0"/>
              <a:t>ThingSpeak processes the data and sends a booking request to the LPG supplier.</a:t>
            </a:r>
            <a:endParaRPr lang="en-US" sz="2400" dirty="0" smtClean="0"/>
          </a:p>
          <a:p>
            <a:pPr lvl="0"/>
            <a:r>
              <a:rPr lang="en-US" b="1" dirty="0" smtClean="0"/>
              <a:t>Alert Notification</a:t>
            </a:r>
            <a:r>
              <a:rPr lang="en-US" dirty="0" smtClean="0"/>
              <a:t>:</a:t>
            </a:r>
            <a:endParaRPr lang="en-US" sz="2400" dirty="0" smtClean="0"/>
          </a:p>
          <a:p>
            <a:pPr lvl="1"/>
            <a:r>
              <a:rPr lang="en-US" dirty="0" smtClean="0"/>
              <a:t>If the gas level is critically low, the system triggers a buzzer alert for immediate attention.</a:t>
            </a:r>
            <a:endParaRPr lang="en-US" sz="2400" dirty="0" smtClean="0"/>
          </a:p>
          <a:p>
            <a:pPr lvl="1"/>
            <a:r>
              <a:rPr lang="en-US" dirty="0" smtClean="0"/>
              <a:t>The user is notified via the ThingSpeak platform or a mobile application.</a:t>
            </a:r>
            <a:endParaRPr lang="en-US" sz="2400" dirty="0" smtClean="0"/>
          </a:p>
          <a:p>
            <a:pPr lvl="0"/>
            <a:r>
              <a:rPr lang="en-US" b="1" dirty="0" smtClean="0"/>
              <a:t>Automatic </a:t>
            </a:r>
            <a:r>
              <a:rPr lang="en-US" b="1" dirty="0" smtClean="0"/>
              <a:t>Booking</a:t>
            </a:r>
            <a:r>
              <a:rPr lang="en-US" dirty="0" smtClean="0"/>
              <a:t>:</a:t>
            </a:r>
            <a:endParaRPr lang="en-US" sz="2400" dirty="0" smtClean="0"/>
          </a:p>
          <a:p>
            <a:pPr marL="596646" lvl="0" indent="-514350">
              <a:buNone/>
            </a:pPr>
            <a:r>
              <a:rPr lang="en-US" dirty="0" smtClean="0"/>
              <a:t>	The </a:t>
            </a:r>
            <a:r>
              <a:rPr lang="en-US" dirty="0" smtClean="0"/>
              <a:t>ThingSpeak platform sends a preconfigured booking request to the supplier. And send sms.</a:t>
            </a:r>
            <a:endParaRPr lang="en-US" sz="2800" dirty="0" smtClean="0"/>
          </a:p>
          <a:p>
            <a:endParaRPr lang="en-US" dirty="0"/>
          </a:p>
        </p:txBody>
      </p:sp>
      <p:sp>
        <p:nvSpPr>
          <p:cNvPr id="4" name="Footer Placeholder 3"/>
          <p:cNvSpPr>
            <a:spLocks noGrp="1"/>
          </p:cNvSpPr>
          <p:nvPr>
            <p:ph type="ftr" sz="quarter" idx="11"/>
          </p:nvPr>
        </p:nvSpPr>
        <p:spPr>
          <a:xfrm>
            <a:off x="96202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142852"/>
            <a:ext cx="8229600" cy="1143000"/>
          </a:xfrm>
        </p:spPr>
        <p:txBody>
          <a:bodyPr/>
          <a:lstStyle/>
          <a:p>
            <a:pPr algn="ctr"/>
            <a:r>
              <a:rPr lang="en-US" b="0" dirty="0"/>
              <a:t>REQUIREMENTS</a:t>
            </a:r>
          </a:p>
        </p:txBody>
      </p:sp>
      <p:sp>
        <p:nvSpPr>
          <p:cNvPr id="5" name="Text Placeholder 4"/>
          <p:cNvSpPr>
            <a:spLocks noGrp="1"/>
          </p:cNvSpPr>
          <p:nvPr>
            <p:ph type="body" idx="1"/>
          </p:nvPr>
        </p:nvSpPr>
        <p:spPr>
          <a:xfrm>
            <a:off x="500034" y="1500174"/>
            <a:ext cx="4023360" cy="640080"/>
          </a:xfrm>
        </p:spPr>
        <p:txBody>
          <a:bodyPr/>
          <a:lstStyle/>
          <a:p>
            <a:pPr algn="ctr"/>
            <a:r>
              <a:rPr lang="en-US" dirty="0"/>
              <a:t>HARDWARE</a:t>
            </a:r>
          </a:p>
        </p:txBody>
      </p:sp>
      <p:sp>
        <p:nvSpPr>
          <p:cNvPr id="7" name="Text Placeholder 6"/>
          <p:cNvSpPr>
            <a:spLocks noGrp="1"/>
          </p:cNvSpPr>
          <p:nvPr>
            <p:ph type="body" sz="half" idx="3"/>
          </p:nvPr>
        </p:nvSpPr>
        <p:spPr>
          <a:xfrm>
            <a:off x="4643438" y="1500174"/>
            <a:ext cx="4023360" cy="640080"/>
          </a:xfrm>
        </p:spPr>
        <p:txBody>
          <a:bodyPr/>
          <a:lstStyle/>
          <a:p>
            <a:pPr algn="ctr"/>
            <a:r>
              <a:rPr lang="en-US" dirty="0"/>
              <a:t>SOFTWARE</a:t>
            </a:r>
          </a:p>
        </p:txBody>
      </p:sp>
      <p:sp>
        <p:nvSpPr>
          <p:cNvPr id="6" name="Content Placeholder 5"/>
          <p:cNvSpPr>
            <a:spLocks noGrp="1"/>
          </p:cNvSpPr>
          <p:nvPr>
            <p:ph sz="quarter" idx="2"/>
          </p:nvPr>
        </p:nvSpPr>
        <p:spPr>
          <a:xfrm>
            <a:off x="500034" y="2285992"/>
            <a:ext cx="4023360" cy="4114800"/>
          </a:xfrm>
        </p:spPr>
        <p:txBody>
          <a:bodyPr>
            <a:normAutofit fontScale="85000" lnSpcReduction="10000"/>
          </a:bodyPr>
          <a:lstStyle/>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ARDUINO UNO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PRESSURE SENSOR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LPG SENSOR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LCD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WIFI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GSM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THING SPEAK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REGULATED POWER SUPPLY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ontent Placeholder 7"/>
          <p:cNvSpPr>
            <a:spLocks noGrp="1"/>
          </p:cNvSpPr>
          <p:nvPr>
            <p:ph sz="quarter" idx="4"/>
          </p:nvPr>
        </p:nvSpPr>
        <p:spPr>
          <a:xfrm>
            <a:off x="4643438" y="2285992"/>
            <a:ext cx="4023360" cy="4114800"/>
          </a:xfrm>
        </p:spPr>
        <p:txBody>
          <a:bodyPr>
            <a:normAutofit/>
          </a:bodyPr>
          <a:lstStyle/>
          <a:p>
            <a:pPr lvl="0">
              <a:lnSpc>
                <a:spcPct val="170000"/>
              </a:lnSpc>
            </a:pPr>
            <a:r>
              <a:rPr lang="en-IN" sz="1500" dirty="0" smtClean="0">
                <a:latin typeface="Times New Roman" pitchFamily="18" charset="0"/>
                <a:cs typeface="Times New Roman" pitchFamily="18" charset="0"/>
              </a:rPr>
              <a:t>ARDUINO IDE</a:t>
            </a:r>
            <a:endParaRPr lang="en-US" sz="1500" dirty="0" smtClean="0">
              <a:latin typeface="Times New Roman" pitchFamily="18" charset="0"/>
              <a:cs typeface="Times New Roman" pitchFamily="18" charset="0"/>
            </a:endParaRPr>
          </a:p>
          <a:p>
            <a:pPr lvl="0">
              <a:lnSpc>
                <a:spcPct val="170000"/>
              </a:lnSpc>
            </a:pPr>
            <a:r>
              <a:rPr lang="en-IN" sz="1500" dirty="0" smtClean="0">
                <a:latin typeface="Times New Roman" pitchFamily="18" charset="0"/>
                <a:cs typeface="Times New Roman" pitchFamily="18" charset="0"/>
              </a:rPr>
              <a:t>EMBEDDED C PROGRAMMING</a:t>
            </a:r>
            <a:endParaRPr lang="en-US" sz="1500" dirty="0">
              <a:latin typeface="Times New Roman" pitchFamily="18" charset="0"/>
              <a:cs typeface="Times New Roman" pitchFamily="18" charset="0"/>
            </a:endParaRPr>
          </a:p>
        </p:txBody>
      </p:sp>
      <p:sp>
        <p:nvSpPr>
          <p:cNvPr id="9" name="Footer Placeholder 8"/>
          <p:cNvSpPr>
            <a:spLocks noGrp="1"/>
          </p:cNvSpPr>
          <p:nvPr>
            <p:ph type="ftr" sz="quarter" idx="11"/>
          </p:nvPr>
        </p:nvSpPr>
        <p:spPr>
          <a:xfrm>
            <a:off x="-32"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a:t>ARDUINO UNO</a:t>
            </a:r>
            <a:endParaRPr lang="en-US" dirty="0"/>
          </a:p>
        </p:txBody>
      </p:sp>
      <p:sp>
        <p:nvSpPr>
          <p:cNvPr id="4" name="Content Placeholder 3"/>
          <p:cNvSpPr>
            <a:spLocks noGrp="1"/>
          </p:cNvSpPr>
          <p:nvPr>
            <p:ph idx="1"/>
          </p:nvPr>
        </p:nvSpPr>
        <p:spPr>
          <a:xfrm>
            <a:off x="1435608" y="1447800"/>
            <a:ext cx="3922210" cy="4800600"/>
          </a:xfrm>
        </p:spPr>
        <p:txBody>
          <a:bodyPr>
            <a:normAutofit/>
          </a:bodyPr>
          <a:lstStyle/>
          <a:p>
            <a:r>
              <a:rPr lang="en-US" sz="1800" b="1" dirty="0" smtClean="0"/>
              <a:t>Popular and Beginner-Friendly</a:t>
            </a:r>
            <a:r>
              <a:rPr lang="en-US" sz="1800" dirty="0" smtClean="0"/>
              <a:t>: The Arduino Uno is the most common and widely used version, making it a great choice for beginners.</a:t>
            </a:r>
          </a:p>
          <a:p>
            <a:endParaRPr lang="en-US" sz="1800" dirty="0" smtClean="0"/>
          </a:p>
          <a:p>
            <a:r>
              <a:rPr lang="en-US" sz="1800" b="1" dirty="0" smtClean="0"/>
              <a:t>Latest Revision (Rev3/R3)</a:t>
            </a:r>
            <a:r>
              <a:rPr lang="en-US" sz="1800" dirty="0" smtClean="0"/>
              <a:t>:</a:t>
            </a:r>
          </a:p>
          <a:p>
            <a:pPr>
              <a:buNone/>
            </a:pPr>
            <a:r>
              <a:rPr lang="en-US" sz="1800" dirty="0" smtClean="0"/>
              <a:t>     The most recent version, Rev3 (R3), includes improvements and additional features over previous revisions.</a:t>
            </a:r>
            <a:endParaRPr lang="en-US" sz="1800" dirty="0"/>
          </a:p>
        </p:txBody>
      </p:sp>
      <p:pic>
        <p:nvPicPr>
          <p:cNvPr id="7" name="Content Placeholder 6"/>
          <p:cNvPicPr>
            <a:picLocks noGrp="1"/>
          </p:cNvPicPr>
          <p:nvPr>
            <p:ph sz="quarter" idx="4294967295"/>
          </p:nvPr>
        </p:nvPicPr>
        <p:blipFill>
          <a:blip r:embed="rId2"/>
          <a:stretch>
            <a:fillRect/>
          </a:stretch>
        </p:blipFill>
        <p:spPr bwMode="auto">
          <a:xfrm>
            <a:off x="5357818" y="2000240"/>
            <a:ext cx="3786182" cy="2097092"/>
          </a:xfrm>
          <a:prstGeom prst="rect">
            <a:avLst/>
          </a:prstGeom>
          <a:noFill/>
          <a:ln w="9525">
            <a:noFill/>
            <a:miter lim="800000"/>
            <a:headEnd/>
            <a:tailEnd/>
          </a:ln>
        </p:spPr>
      </p:pic>
      <p:sp>
        <p:nvSpPr>
          <p:cNvPr id="5" name="Footer Placeholder 4"/>
          <p:cNvSpPr>
            <a:spLocks noGrp="1"/>
          </p:cNvSpPr>
          <p:nvPr>
            <p:ph type="ftr" sz="quarter" idx="11"/>
          </p:nvPr>
        </p:nvSpPr>
        <p:spPr>
          <a:xfrm>
            <a:off x="1033458"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lvl="0" algn="ctr"/>
            <a:r>
              <a:rPr lang="en-US" dirty="0"/>
              <a:t>GSM</a:t>
            </a:r>
          </a:p>
        </p:txBody>
      </p:sp>
      <p:sp>
        <p:nvSpPr>
          <p:cNvPr id="8" name="Content Placeholder 7"/>
          <p:cNvSpPr>
            <a:spLocks noGrp="1"/>
          </p:cNvSpPr>
          <p:nvPr>
            <p:ph sz="half" idx="1"/>
          </p:nvPr>
        </p:nvSpPr>
        <p:spPr/>
        <p:txBody>
          <a:bodyPr>
            <a:normAutofit/>
          </a:bodyPr>
          <a:lstStyle/>
          <a:p>
            <a:pPr marL="0" marR="0" indent="457200">
              <a:lnSpc>
                <a:spcPct val="150000"/>
              </a:lnSpc>
              <a:spcAft>
                <a:spcPts val="800"/>
              </a:spcAft>
            </a:pPr>
            <a:r>
              <a:rPr lang="en-US" sz="1800" dirty="0" smtClean="0"/>
              <a:t>A </a:t>
            </a:r>
            <a:r>
              <a:rPr lang="en-US" sz="1800" b="1" dirty="0" smtClean="0"/>
              <a:t>GSM module</a:t>
            </a:r>
            <a:r>
              <a:rPr lang="en-US" sz="1800" dirty="0" smtClean="0"/>
              <a:t> is a device that enables communication between a microcontroller and a mobile network, allowing SMS, voice calls, and data transfer. It requires a SIM card and uses serial communication to interact with microcontrollers like Arduino.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Content Placeholder 4">
            <a:extLst>
              <a:ext uri="{FF2B5EF4-FFF2-40B4-BE49-F238E27FC236}">
                <a16:creationId xmlns="" xmlns:a16="http://schemas.microsoft.com/office/drawing/2014/main" id="{89C06906-1161-E37F-CA6A-752F5C1D20F0}"/>
              </a:ext>
            </a:extLst>
          </p:cNvPr>
          <p:cNvPicPr>
            <a:picLocks noGrp="1" noChangeAspect="1"/>
          </p:cNvPicPr>
          <p:nvPr>
            <p:ph sz="half" idx="2"/>
          </p:nvPr>
        </p:nvPicPr>
        <p:blipFill>
          <a:blip r:embed="rId2"/>
          <a:stretch>
            <a:fillRect/>
          </a:stretch>
        </p:blipFill>
        <p:spPr>
          <a:xfrm>
            <a:off x="5276850" y="1960089"/>
            <a:ext cx="3657600" cy="3791896"/>
          </a:xfrm>
          <a:prstGeom prst="rect">
            <a:avLst/>
          </a:prstGeom>
        </p:spPr>
      </p:pic>
      <p:sp>
        <p:nvSpPr>
          <p:cNvPr id="6" name="Footer Placeholder 5"/>
          <p:cNvSpPr>
            <a:spLocks noGrp="1"/>
          </p:cNvSpPr>
          <p:nvPr>
            <p:ph type="ftr" sz="quarter" idx="11"/>
          </p:nvPr>
        </p:nvSpPr>
        <p:spPr>
          <a:xfrm>
            <a:off x="96202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dirty="0"/>
              <a:t>GAS SENSOR</a:t>
            </a:r>
          </a:p>
        </p:txBody>
      </p:sp>
      <p:sp>
        <p:nvSpPr>
          <p:cNvPr id="3" name="Content Placeholder 2"/>
          <p:cNvSpPr>
            <a:spLocks noGrp="1"/>
          </p:cNvSpPr>
          <p:nvPr>
            <p:ph sz="half" idx="1"/>
          </p:nvPr>
        </p:nvSpPr>
        <p:spPr/>
        <p:txBody>
          <a:bodyPr>
            <a:normAutofit/>
          </a:bodyPr>
          <a:lstStyle/>
          <a:p>
            <a:pPr marL="0" marR="0">
              <a:lnSpc>
                <a:spcPct val="150000"/>
              </a:lnSpc>
              <a:spcAft>
                <a:spcPts val="800"/>
              </a:spcAft>
            </a:pPr>
            <a:r>
              <a:rPr lang="en-US" sz="1800" dirty="0" smtClean="0"/>
              <a:t>A </a:t>
            </a:r>
            <a:r>
              <a:rPr lang="en-US" sz="1800" b="1" dirty="0" smtClean="0"/>
              <a:t>gas sensor</a:t>
            </a:r>
            <a:r>
              <a:rPr lang="en-US" sz="1800" dirty="0" smtClean="0"/>
              <a:t> is a device that detects the presence and concentration of gases in the environment, such as LPG, methane, or carbon monoxide. It converts the gas concentration into an electrical signal that can be read by a microcontroller for monitoring or alert purposes.</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Content Placeholder 5">
            <a:extLst>
              <a:ext uri="{FF2B5EF4-FFF2-40B4-BE49-F238E27FC236}">
                <a16:creationId xmlns="" xmlns:a16="http://schemas.microsoft.com/office/drawing/2014/main" id="{D03DFD14-EBF2-DB75-2A6A-2EF0E51475EB}"/>
              </a:ext>
            </a:extLst>
          </p:cNvPr>
          <p:cNvPicPr>
            <a:picLocks noGrp="1" noChangeAspect="1"/>
          </p:cNvPicPr>
          <p:nvPr>
            <p:ph sz="half" idx="2"/>
          </p:nvPr>
        </p:nvPicPr>
        <p:blipFill>
          <a:blip r:embed="rId2"/>
          <a:stretch>
            <a:fillRect/>
          </a:stretch>
        </p:blipFill>
        <p:spPr>
          <a:xfrm>
            <a:off x="5276850" y="2435317"/>
            <a:ext cx="3657600" cy="2841441"/>
          </a:xfrm>
          <a:prstGeom prst="rect">
            <a:avLst/>
          </a:prstGeom>
        </p:spPr>
      </p:pic>
      <p:sp>
        <p:nvSpPr>
          <p:cNvPr id="5" name="Footer Placeholder 4"/>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r>
              <a:rPr lang="en-US" dirty="0"/>
              <a:t>LCD</a:t>
            </a:r>
          </a:p>
        </p:txBody>
      </p:sp>
      <p:sp>
        <p:nvSpPr>
          <p:cNvPr id="3" name="Content Placeholder 2"/>
          <p:cNvSpPr>
            <a:spLocks noGrp="1"/>
          </p:cNvSpPr>
          <p:nvPr>
            <p:ph sz="half" idx="1"/>
          </p:nvPr>
        </p:nvSpPr>
        <p:spPr/>
        <p:txBody>
          <a:bodyPr>
            <a:normAutofit/>
          </a:bodyPr>
          <a:lstStyle/>
          <a:p>
            <a:r>
              <a:rPr lang="en-US" sz="1800" dirty="0" smtClean="0"/>
              <a:t>An </a:t>
            </a:r>
            <a:r>
              <a:rPr lang="en-US" sz="1800" b="1" dirty="0" smtClean="0"/>
              <a:t>LCD display</a:t>
            </a:r>
            <a:r>
              <a:rPr lang="en-US" sz="1800" dirty="0" smtClean="0"/>
              <a:t> is a flat-panel screen that uses liquid crystals to display text. It is commonly used in electronic projects to visually present data from a microcontroller or sensor.</a:t>
            </a:r>
            <a:endParaRPr lang="en-US" sz="1800" dirty="0"/>
          </a:p>
        </p:txBody>
      </p:sp>
      <p:pic>
        <p:nvPicPr>
          <p:cNvPr id="6" name="Content Placeholder 5">
            <a:extLst>
              <a:ext uri="{FF2B5EF4-FFF2-40B4-BE49-F238E27FC236}">
                <a16:creationId xmlns="" xmlns:a16="http://schemas.microsoft.com/office/drawing/2014/main" id="{141604C6-671A-43B7-C428-FC2D04D99027}"/>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bwMode="auto">
          <a:xfrm>
            <a:off x="5276850" y="2992037"/>
            <a:ext cx="3657600" cy="1728000"/>
          </a:xfrm>
          <a:prstGeom prst="rect">
            <a:avLst/>
          </a:prstGeom>
          <a:noFill/>
          <a:ln>
            <a:noFill/>
          </a:ln>
        </p:spPr>
      </p:pic>
      <p:sp>
        <p:nvSpPr>
          <p:cNvPr id="5" name="Footer Placeholder 4"/>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lvl="0" algn="ctr"/>
            <a:r>
              <a:rPr lang="en-US" sz="3200" b="1" dirty="0"/>
              <a:t>PRESSURE SENSOR</a:t>
            </a:r>
            <a:endParaRPr lang="en-US" sz="3200" dirty="0"/>
          </a:p>
        </p:txBody>
      </p:sp>
      <p:sp>
        <p:nvSpPr>
          <p:cNvPr id="9" name="Content Placeholder 8">
            <a:extLst>
              <a:ext uri="{FF2B5EF4-FFF2-40B4-BE49-F238E27FC236}">
                <a16:creationId xmlns="" xmlns:a16="http://schemas.microsoft.com/office/drawing/2014/main" id="{F3986EDF-63EF-5B28-10AA-BACA0A63D334}"/>
              </a:ext>
            </a:extLst>
          </p:cNvPr>
          <p:cNvSpPr>
            <a:spLocks noGrp="1"/>
          </p:cNvSpPr>
          <p:nvPr>
            <p:ph sz="half" idx="1"/>
          </p:nvPr>
        </p:nvSpPr>
        <p:spPr/>
        <p:txBody>
          <a:bodyPr>
            <a:normAutofit/>
          </a:bodyPr>
          <a:lstStyle/>
          <a:p>
            <a:pPr marL="0" marR="0">
              <a:lnSpc>
                <a:spcPct val="150000"/>
              </a:lnSpc>
              <a:spcAft>
                <a:spcPts val="800"/>
              </a:spcAft>
              <a:tabLst>
                <a:tab pos="2125980" algn="l"/>
              </a:tabLst>
            </a:pPr>
            <a:r>
              <a:rPr lang="en-US" sz="1800" dirty="0" smtClean="0"/>
              <a:t>A </a:t>
            </a:r>
            <a:r>
              <a:rPr lang="en-US" sz="1800" b="1" dirty="0" smtClean="0"/>
              <a:t>pressure sensor</a:t>
            </a:r>
            <a:r>
              <a:rPr lang="en-US" sz="1800" dirty="0" smtClean="0"/>
              <a:t> is a device that measures the pressure of gases or liquids and converts it into an electrical signal. It is commonly used in applications like monitoring fluid levels, weather systems, and industrial processes.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Content Placeholder 3">
            <a:extLst>
              <a:ext uri="{FF2B5EF4-FFF2-40B4-BE49-F238E27FC236}">
                <a16:creationId xmlns="" xmlns:a16="http://schemas.microsoft.com/office/drawing/2014/main" id="{4297B42D-BFA8-D484-D5C7-290FB37F72D1}"/>
              </a:ext>
            </a:extLst>
          </p:cNvPr>
          <p:cNvPicPr>
            <a:picLocks noGrp="1" noChangeAspect="1"/>
          </p:cNvPicPr>
          <p:nvPr>
            <p:ph sz="half" idx="2"/>
          </p:nvPr>
        </p:nvPicPr>
        <p:blipFill>
          <a:blip r:embed="rId2"/>
          <a:stretch>
            <a:fillRect/>
          </a:stretch>
        </p:blipFill>
        <p:spPr>
          <a:xfrm>
            <a:off x="4605366" y="2066131"/>
            <a:ext cx="4038600" cy="4038600"/>
          </a:xfrm>
          <a:prstGeom prst="rect">
            <a:avLst/>
          </a:prstGeom>
        </p:spPr>
      </p:pic>
      <p:sp>
        <p:nvSpPr>
          <p:cNvPr id="5" name="Footer Placeholder 4"/>
          <p:cNvSpPr>
            <a:spLocks noGrp="1"/>
          </p:cNvSpPr>
          <p:nvPr>
            <p:ph type="ftr" sz="quarter" idx="11"/>
          </p:nvPr>
        </p:nvSpPr>
        <p:spPr>
          <a:xfrm>
            <a:off x="962020" y="6305550"/>
            <a:ext cx="2895600" cy="476250"/>
          </a:xfrm>
        </p:spPr>
        <p:txBody>
          <a:bodyPr/>
          <a:lstStyle/>
          <a:p>
            <a:r>
              <a:rPr lang="en-US" dirty="0" smtClean="0"/>
              <a:t>Dept of ECE, BITM, BALLARI</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8C89DE-B1D0-D5A9-C5E7-C15C0E00D117}"/>
            </a:ext>
          </a:extLst>
        </p:cNvPr>
        <p:cNvGrpSpPr/>
        <p:nvPr/>
      </p:nvGrpSpPr>
      <p:grpSpPr>
        <a:xfrm>
          <a:off x="0" y="0"/>
          <a:ext cx="0" cy="0"/>
          <a:chOff x="0" y="0"/>
          <a:chExt cx="0" cy="0"/>
        </a:xfrm>
      </p:grpSpPr>
      <p:sp>
        <p:nvSpPr>
          <p:cNvPr id="7" name="Title 6">
            <a:extLst>
              <a:ext uri="{FF2B5EF4-FFF2-40B4-BE49-F238E27FC236}">
                <a16:creationId xmlns="" xmlns:a16="http://schemas.microsoft.com/office/drawing/2014/main" id="{2D4EA749-37F6-2FF7-3476-1FFE4E65D272}"/>
              </a:ext>
            </a:extLst>
          </p:cNvPr>
          <p:cNvSpPr>
            <a:spLocks noGrp="1"/>
          </p:cNvSpPr>
          <p:nvPr>
            <p:ph type="title"/>
          </p:nvPr>
        </p:nvSpPr>
        <p:spPr/>
        <p:txBody>
          <a:bodyPr/>
          <a:lstStyle/>
          <a:p>
            <a:pPr lvl="0" algn="ctr"/>
            <a:r>
              <a:rPr lang="en-US" sz="3200" b="1" dirty="0"/>
              <a:t>WIFI</a:t>
            </a:r>
            <a:endParaRPr lang="en-US" sz="3200" dirty="0"/>
          </a:p>
        </p:txBody>
      </p:sp>
      <p:sp>
        <p:nvSpPr>
          <p:cNvPr id="9" name="Content Placeholder 8">
            <a:extLst>
              <a:ext uri="{FF2B5EF4-FFF2-40B4-BE49-F238E27FC236}">
                <a16:creationId xmlns="" xmlns:a16="http://schemas.microsoft.com/office/drawing/2014/main" id="{69D092F2-7C65-E851-93EA-178E5237A11D}"/>
              </a:ext>
            </a:extLst>
          </p:cNvPr>
          <p:cNvSpPr>
            <a:spLocks noGrp="1"/>
          </p:cNvSpPr>
          <p:nvPr>
            <p:ph sz="half" idx="1"/>
          </p:nvPr>
        </p:nvSpPr>
        <p:spPr/>
        <p:txBody>
          <a:bodyPr>
            <a:normAutofit/>
          </a:bodyPr>
          <a:lstStyle/>
          <a:p>
            <a:pPr marL="0" marR="0">
              <a:lnSpc>
                <a:spcPct val="150000"/>
              </a:lnSpc>
              <a:spcBef>
                <a:spcPts val="600"/>
              </a:spcBef>
              <a:spcAft>
                <a:spcPts val="600"/>
              </a:spcAft>
            </a:pPr>
            <a:r>
              <a:rPr lang="en-US" sz="1800" dirty="0" smtClean="0"/>
              <a:t>The </a:t>
            </a:r>
            <a:r>
              <a:rPr lang="en-US" sz="1800" b="1" dirty="0" smtClean="0"/>
              <a:t>ESP8266 Wi-Fi module</a:t>
            </a:r>
            <a:r>
              <a:rPr lang="en-US" sz="1800" dirty="0" smtClean="0"/>
              <a:t> is a low-cost wireless communication device that enables microcontrollers to connect to Wi-Fi networks. It allows IoT devices to send and receive data over the internet, making it ideal for remote monitoring and control applications.</a:t>
            </a:r>
            <a:endParaRPr lang="en-US" sz="1800" dirty="0">
              <a:effectLst/>
              <a:latin typeface="Times New Roman" panose="02020603050405020304" pitchFamily="18" charset="0"/>
              <a:ea typeface="Times New Roman" panose="02020603050405020304" pitchFamily="18" charset="0"/>
            </a:endParaRPr>
          </a:p>
        </p:txBody>
      </p:sp>
      <p:pic>
        <p:nvPicPr>
          <p:cNvPr id="5" name="Content Placeholder 4">
            <a:extLst>
              <a:ext uri="{FF2B5EF4-FFF2-40B4-BE49-F238E27FC236}">
                <a16:creationId xmlns="" xmlns:a16="http://schemas.microsoft.com/office/drawing/2014/main" id="{3FFA983C-8891-E1ED-BB2C-FC058FD07C5D}"/>
              </a:ext>
            </a:extLst>
          </p:cNvPr>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bwMode="auto">
          <a:xfrm>
            <a:off x="5970270" y="3212147"/>
            <a:ext cx="2270760" cy="1287780"/>
          </a:xfrm>
          <a:prstGeom prst="rect">
            <a:avLst/>
          </a:prstGeom>
          <a:noFill/>
          <a:ln>
            <a:noFill/>
          </a:ln>
        </p:spPr>
      </p:pic>
      <p:sp>
        <p:nvSpPr>
          <p:cNvPr id="6" name="Footer Placeholder 5"/>
          <p:cNvSpPr>
            <a:spLocks noGrp="1"/>
          </p:cNvSpPr>
          <p:nvPr>
            <p:ph type="ftr" sz="quarter" idx="11"/>
          </p:nvPr>
        </p:nvSpPr>
        <p:spPr>
          <a:xfrm>
            <a:off x="1000100" y="6305550"/>
            <a:ext cx="2895600" cy="476250"/>
          </a:xfrm>
        </p:spPr>
        <p:txBody>
          <a:bodyPr/>
          <a:lstStyle/>
          <a:p>
            <a:r>
              <a:rPr lang="en-US" smtClean="0"/>
              <a:t>Dept of ECE, BITM, BALLARI</a:t>
            </a:r>
            <a:endParaRPr lang="en-US"/>
          </a:p>
        </p:txBody>
      </p:sp>
    </p:spTree>
    <p:extLst>
      <p:ext uri="{BB962C8B-B14F-4D97-AF65-F5344CB8AC3E}">
        <p14:creationId xmlns="" xmlns:p14="http://schemas.microsoft.com/office/powerpoint/2010/main" val="4005949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Output Screens</a:t>
            </a:r>
            <a:endParaRPr lang="en-US" dirty="0"/>
          </a:p>
        </p:txBody>
      </p:sp>
      <p:pic>
        <p:nvPicPr>
          <p:cNvPr id="5" name="Content Placeholder 4" descr="IMG-20250120-WA0006.jpg"/>
          <p:cNvPicPr>
            <a:picLocks noGrp="1" noChangeAspect="1"/>
          </p:cNvPicPr>
          <p:nvPr>
            <p:ph sz="half" idx="1"/>
          </p:nvPr>
        </p:nvPicPr>
        <p:blipFill>
          <a:blip r:embed="rId2"/>
          <a:stretch>
            <a:fillRect/>
          </a:stretch>
        </p:blipFill>
        <p:spPr>
          <a:xfrm>
            <a:off x="2269869" y="1524000"/>
            <a:ext cx="1988062" cy="4664075"/>
          </a:xfrm>
        </p:spPr>
      </p:pic>
      <p:pic>
        <p:nvPicPr>
          <p:cNvPr id="6" name="Content Placeholder 5" descr="IMG-20250120-WA0004.jpg"/>
          <p:cNvPicPr>
            <a:picLocks noGrp="1" noChangeAspect="1"/>
          </p:cNvPicPr>
          <p:nvPr>
            <p:ph sz="half" idx="2"/>
          </p:nvPr>
        </p:nvPicPr>
        <p:blipFill>
          <a:blip r:embed="rId3"/>
          <a:stretch>
            <a:fillRect/>
          </a:stretch>
        </p:blipFill>
        <p:spPr>
          <a:xfrm>
            <a:off x="5804726" y="1524000"/>
            <a:ext cx="2601848" cy="4664075"/>
          </a:xfrm>
        </p:spPr>
      </p:pic>
      <p:sp>
        <p:nvSpPr>
          <p:cNvPr id="7" name="Footer Placeholder 6"/>
          <p:cNvSpPr>
            <a:spLocks noGrp="1"/>
          </p:cNvSpPr>
          <p:nvPr>
            <p:ph type="ftr" sz="quarter" idx="11"/>
          </p:nvPr>
        </p:nvSpPr>
        <p:spPr>
          <a:xfrm>
            <a:off x="1000100" y="6305550"/>
            <a:ext cx="2895600" cy="476250"/>
          </a:xfrm>
        </p:spPr>
        <p:txBody>
          <a:bodyPr/>
          <a:lstStyle/>
          <a:p>
            <a:r>
              <a:rPr lang="en-US" dirty="0" smtClean="0"/>
              <a:t>Dept of ECE, BITM, BALLARI</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0" dirty="0"/>
              <a:t>FUTURE SCOPE</a:t>
            </a:r>
          </a:p>
        </p:txBody>
      </p:sp>
      <p:sp>
        <p:nvSpPr>
          <p:cNvPr id="3" name="Content Placeholder 2"/>
          <p:cNvSpPr>
            <a:spLocks noGrp="1"/>
          </p:cNvSpPr>
          <p:nvPr>
            <p:ph idx="1"/>
          </p:nvPr>
        </p:nvSpPr>
        <p:spPr/>
        <p:txBody>
          <a:bodyPr>
            <a:normAutofit/>
          </a:bodyPr>
          <a:lstStyle/>
          <a:p>
            <a:r>
              <a:rPr lang="en-US" sz="1800" b="1" dirty="0" smtClean="0"/>
              <a:t>AI-Driven Analytics</a:t>
            </a:r>
            <a:r>
              <a:rPr lang="en-US" sz="1800" dirty="0" smtClean="0"/>
              <a:t>: Integrating AI can predict gas consumption trends and optimize refill schedules, improving efficiency and reducing waste.</a:t>
            </a:r>
          </a:p>
          <a:p>
            <a:endParaRPr lang="en-US" sz="1800" dirty="0" smtClean="0"/>
          </a:p>
          <a:p>
            <a:r>
              <a:rPr lang="en-US" sz="1800" b="1" dirty="0" smtClean="0"/>
              <a:t>Mobile App Integration</a:t>
            </a:r>
            <a:r>
              <a:rPr lang="en-US" sz="1800" dirty="0" smtClean="0"/>
              <a:t>: A mobile app can offer real-time monitoring and control, enhancing user interaction and convenience.</a:t>
            </a:r>
          </a:p>
          <a:p>
            <a:endParaRPr lang="en-US" sz="1800" dirty="0" smtClean="0"/>
          </a:p>
          <a:p>
            <a:r>
              <a:rPr lang="en-US" sz="1800" b="1" dirty="0" smtClean="0"/>
              <a:t>Broader Application</a:t>
            </a:r>
            <a:r>
              <a:rPr lang="en-US" sz="1800" dirty="0" smtClean="0"/>
              <a:t>: Expanding the system to industrial and commercial LPG setups extends its benefits to larger-scale operations.</a:t>
            </a:r>
          </a:p>
          <a:p>
            <a:endParaRPr lang="en-US" sz="1800" dirty="0" smtClean="0"/>
          </a:p>
          <a:p>
            <a:r>
              <a:rPr lang="en-US" sz="1800" b="1" dirty="0" smtClean="0"/>
              <a:t>Sustainability and Automation</a:t>
            </a:r>
            <a:r>
              <a:rPr lang="en-US" sz="1800" dirty="0" smtClean="0"/>
              <a:t>: Incorporating solar power and smart home integration can boost sustainability, automation, and safety, making the system more versatile and future-ready.</a:t>
            </a:r>
            <a:endParaRPr lang="en-US" sz="1800" dirty="0"/>
          </a:p>
        </p:txBody>
      </p:sp>
      <p:sp>
        <p:nvSpPr>
          <p:cNvPr id="4" name="Footer Placeholder 3"/>
          <p:cNvSpPr>
            <a:spLocks noGrp="1"/>
          </p:cNvSpPr>
          <p:nvPr>
            <p:ph type="ftr" sz="quarter" idx="11"/>
          </p:nvPr>
        </p:nvSpPr>
        <p:spPr>
          <a:xfrm>
            <a:off x="1000100" y="6305550"/>
            <a:ext cx="2895600" cy="476250"/>
          </a:xfrm>
        </p:spPr>
        <p:txBody>
          <a:bodyPr/>
          <a:lstStyle/>
          <a:p>
            <a:r>
              <a:rPr lang="en-US" smtClean="0"/>
              <a:t>Dept of ECE, BITM, BALLARI</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CONCLUSION</a:t>
            </a:r>
          </a:p>
        </p:txBody>
      </p:sp>
      <p:sp>
        <p:nvSpPr>
          <p:cNvPr id="3" name="Content Placeholder 2"/>
          <p:cNvSpPr>
            <a:spLocks noGrp="1"/>
          </p:cNvSpPr>
          <p:nvPr>
            <p:ph idx="1"/>
          </p:nvPr>
        </p:nvSpPr>
        <p:spPr/>
        <p:txBody>
          <a:bodyPr>
            <a:normAutofit/>
          </a:bodyPr>
          <a:lstStyle/>
          <a:p>
            <a:pPr algn="just"/>
            <a:r>
              <a:rPr lang="en-US" sz="1800" dirty="0" smtClean="0"/>
              <a:t>The IoT-based LPG Leakage and Level Detection System with auto-booking offers an efficient and user-friendly solution for managing LPG cylinders. Using advanced sensors and IoT technology, it ensures real-time monitoring of gas levels and detects leaks, enhancing safety and convenience. Integration with the ThingSpeak platform automates refill bookings, reducing manual effort and ensuring an uninterrupted supply. The system also includes buzzer alerts and SMS notifications for timely gas leakage warnings, minimizing risks. This comprehensive approach simplifies cylinder management and addresses safety concerns, demonstrating the potential of IoT to improve daily life.</a:t>
            </a:r>
            <a:endParaRPr lang="en-US" sz="1800" dirty="0"/>
          </a:p>
        </p:txBody>
      </p:sp>
      <p:sp>
        <p:nvSpPr>
          <p:cNvPr id="4" name="Footer Placeholder 3"/>
          <p:cNvSpPr>
            <a:spLocks noGrp="1"/>
          </p:cNvSpPr>
          <p:nvPr>
            <p:ph type="ftr" sz="quarter" idx="11"/>
          </p:nvPr>
        </p:nvSpPr>
        <p:spPr>
          <a:xfrm>
            <a:off x="1000100" y="6305550"/>
            <a:ext cx="2895600" cy="476250"/>
          </a:xfrm>
        </p:spPr>
        <p:txBody>
          <a:bodyPr/>
          <a:lstStyle/>
          <a:p>
            <a:r>
              <a:rPr lang="en-US" smtClean="0"/>
              <a:t>Dept of ECE, BITM, BALLARI</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REFERENCES</a:t>
            </a:r>
            <a:endParaRPr lang="en-US" dirty="0"/>
          </a:p>
        </p:txBody>
      </p:sp>
      <p:sp>
        <p:nvSpPr>
          <p:cNvPr id="3" name="Content Placeholder 2"/>
          <p:cNvSpPr>
            <a:spLocks noGrp="1"/>
          </p:cNvSpPr>
          <p:nvPr>
            <p:ph idx="1"/>
          </p:nvPr>
        </p:nvSpPr>
        <p:spPr/>
        <p:txBody>
          <a:bodyPr>
            <a:normAutofit fontScale="40000" lnSpcReduction="20000"/>
          </a:bodyPr>
          <a:lstStyle/>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[1] Kumar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Keshamoni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Sabbani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Hemanth, “Smart Gas Level Monitoring, Booking and Gas Leakage Detector over IoT”, IEEE 7th International Advance Computing Conference,2017.</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[2]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Chaitali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Bagwe</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Vidya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Ghadi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Vinayshri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Naik</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Neha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Kunte</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“IOT Based Gas Leakage Detection System with Database Logging, Prediction and Smart Alerting-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Review”,March</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2018.</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[3] B. D.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Jolhe</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P. A.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Potdukhe</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N. S.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Gawai</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“Automatic LPG Booking, Leakage Detection And Real Time Gas Measurement Monitoring System”, International Journal of Engineering Research &amp; Technology</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(IJERT) ,April 4, 2013.</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[4]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R.Naresh</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Naik</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P.Siva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Nagendra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Reddy,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S.Nanda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Kishore</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K.Tharun</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Kumar Reddy. “Arduino Based LPG gas Monitoring &amp; Automatic Cylinder booking with Alert System”, IOSR Journal of Electronics and</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Communication Engineering (IOSR-JECE), August 2016.</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pP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[5] </a:t>
            </a:r>
            <a:r>
              <a:rPr lang="en-US" kern="100" dirty="0" err="1" smtClean="0">
                <a:latin typeface="Times New Roman" panose="02020603050405020304" pitchFamily="18" charset="0"/>
                <a:ea typeface="Calibri" panose="020F0502020204030204" pitchFamily="34" charset="0"/>
                <a:cs typeface="Times New Roman" panose="02020603050405020304" pitchFamily="18" charset="0"/>
              </a:rPr>
              <a:t>S.Rajitha</a:t>
            </a:r>
            <a:r>
              <a:rPr lang="en-US" kern="100" dirty="0" smtClean="0">
                <a:latin typeface="Times New Roman" panose="02020603050405020304" pitchFamily="18" charset="0"/>
                <a:ea typeface="Calibri" panose="020F0502020204030204" pitchFamily="34" charset="0"/>
                <a:cs typeface="Times New Roman" panose="02020603050405020304" pitchFamily="18" charset="0"/>
              </a:rPr>
              <a:t>, T.SWAPNA, “A Security Alert System Using Gsm For Gas Leakage”, International Journal Of VLSI And Embedded Systems,2012.</a:t>
            </a:r>
            <a:endParaRPr lang="en-US" kern="100" dirty="0" smtClean="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11"/>
          </p:nvPr>
        </p:nvSpPr>
        <p:spPr>
          <a:xfrm>
            <a:off x="1033458" y="6305550"/>
            <a:ext cx="2895600" cy="476250"/>
          </a:xfrm>
        </p:spPr>
        <p:txBody>
          <a:bodyPr/>
          <a:lstStyle/>
          <a:p>
            <a:r>
              <a:rPr lang="en-US" smtClean="0"/>
              <a:t>Dept of ECE, BITM, BALLARI</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608" y="2643190"/>
            <a:ext cx="7498080" cy="1143000"/>
          </a:xfrm>
        </p:spPr>
        <p:txBody>
          <a:bodyPr>
            <a:normAutofit/>
          </a:bodyPr>
          <a:lstStyle/>
          <a:p>
            <a:pPr algn="ctr"/>
            <a:r>
              <a:rPr lang="en-US" sz="6000" dirty="0" smtClean="0"/>
              <a:t>THANK YOU</a:t>
            </a:r>
            <a:endParaRPr lang="en-US" sz="60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450</TotalTime>
  <Words>1167</Words>
  <Application>Microsoft Office PowerPoint</Application>
  <PresentationFormat>On-screen Show (4:3)</PresentationFormat>
  <Paragraphs>129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Solstice</vt:lpstr>
      <vt:lpstr>Slide 1</vt:lpstr>
      <vt:lpstr>Table Of Contents</vt:lpstr>
      <vt:lpstr>INTRODUCTION</vt:lpstr>
      <vt:lpstr>OBJECTIVE</vt:lpstr>
      <vt:lpstr>BLOCK DIAGRAM</vt:lpstr>
      <vt:lpstr>Working Module</vt:lpstr>
      <vt:lpstr>Working </vt:lpstr>
      <vt:lpstr>REQUIREMENTS</vt:lpstr>
      <vt:lpstr>ARDUINO UNO</vt:lpstr>
      <vt:lpstr>GSM</vt:lpstr>
      <vt:lpstr>GAS SENSOR</vt:lpstr>
      <vt:lpstr>LCD</vt:lpstr>
      <vt:lpstr>PRESSURE SENSOR</vt:lpstr>
      <vt:lpstr>WIFI</vt:lpstr>
      <vt:lpstr>Output Screens</vt:lpstr>
      <vt:lpstr>FUTURE SCOPE</vt:lpstr>
      <vt:lpstr>CONCLUSION</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TruProjects</dc:creator>
  <cp:lastModifiedBy>ADMIN</cp:lastModifiedBy>
  <cp:revision>51</cp:revision>
  <dcterms:created xsi:type="dcterms:W3CDTF">2024-02-26T07:25:16Z</dcterms:created>
  <dcterms:modified xsi:type="dcterms:W3CDTF">2025-01-29T06:53:21Z</dcterms:modified>
</cp:coreProperties>
</file>